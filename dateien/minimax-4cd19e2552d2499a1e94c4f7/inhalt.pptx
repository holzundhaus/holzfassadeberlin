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fassadeberlin.wordpress.com/2026/10/22/holzfassade-energiebilanz-aussenwand/" TargetMode="External"/><Relationship Id="rId3" Type="http://schemas.openxmlformats.org/officeDocument/2006/relationships/hyperlink" Target="https://holzundhaus.github.io/holzfassadeberlin/dateien/minimax-4cd19e2552d2499a1e94c4f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und Energiebilanz der Außenwand: Was die Bekleidung energetisch verändert · Erklärende Präsentation</a:t>
            </a:r>
          </a:p>
        </p:txBody>
      </p:sp>
      <p:sp>
        <p:nvSpPr>
          <p:cNvPr id="3" name="Content Placeholder 2"/>
          <p:cNvSpPr>
            <a:spLocks noGrp="1"/>
          </p:cNvSpPr>
          <p:nvPr>
            <p:ph idx="1"/>
          </p:nvPr>
        </p:nvSpPr>
        <p:spPr/>
        <p:txBody>
          <a:bodyPr/>
          <a:lstStyle/>
          <a:p>
            <a:r>
              <a:t>Überblick: Die energetische Wirkung einer Holzfassade lässt sich nicht am Material allein festmachen. Entscheidend ist der vollständige Aufbau der Außenwand aus Dämmung, Luftdichtheitsschicht, Unterkonstruktion und hinterlüfteter Bekleidung. Der folgende Einstieg ergänzt die Erläuterungen zum weiterführenden Ratgeber zur Energiebilanz und zeigt, welche Bauteile und Anschlüsse für eine belastbare Beurteilung geprüft werden müssen.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U-Wert allein nicht genügt</a:t>
            </a:r>
          </a:p>
        </p:txBody>
      </p:sp>
      <p:sp>
        <p:nvSpPr>
          <p:cNvPr id="3" name="Content Placeholder 2"/>
          <p:cNvSpPr>
            <a:spLocks noGrp="1"/>
          </p:cNvSpPr>
          <p:nvPr>
            <p:ph idx="1"/>
          </p:nvPr>
        </p:nvSpPr>
        <p:spPr/>
        <p:txBody>
          <a:bodyPr/>
          <a:lstStyle/>
          <a:p>
            <a:pPr>
              <a:defRPr sz="1800"/>
            </a:pPr>
            <a:r>
              <a:t>Der U-Wert beschreibt den Wärmedurchgang einer Konstruktion, wird aber wesentlich durch Dämmung, Schichtenfolge und Anschlüsse bestimmt. Eine Holzfassade kann den Wärmeschutz nicht unabhängig vom dahinterliegenden Wandaufbau verbessern. Zusätzlich beeinflusst sie das Feuchteverhalten der Dämmung und kann über ihre Unterkonstruktion Wärmebrücken erzeugen oder reduzieren. Auch die Luftdichtheit bleibt entscheidend: Sie wird nicht durch die sichtbare Bekleidung geschaffen, sondern muss in der inneren Konstruktionsebene durchgehend ausgeführt sein. Eine vollständige Betrachtung verbindet deshalb die Wärmebilanz im Winter mit dem Schutz der Dämmun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U-Wert allein nicht genügt</a:t>
            </a:r>
          </a:p>
        </p:txBody>
      </p:sp>
      <p:sp>
        <p:nvSpPr>
          <p:cNvPr id="3" name="Content Placeholder 2"/>
          <p:cNvSpPr>
            <a:spLocks noGrp="1"/>
          </p:cNvSpPr>
          <p:nvPr>
            <p:ph idx="1"/>
          </p:nvPr>
        </p:nvSpPr>
        <p:spPr/>
        <p:txBody>
          <a:bodyPr/>
          <a:lstStyle/>
          <a:p>
            <a:pPr>
              <a:defRPr sz="1800"/>
            </a:pPr>
            <a:r>
              <a:t>g und dem sommerlichen Verhalten der Außenwand.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bei Befestigung und Unterkonstruktion</a:t>
            </a:r>
          </a:p>
        </p:txBody>
      </p:sp>
      <p:sp>
        <p:nvSpPr>
          <p:cNvPr id="3" name="Content Placeholder 2"/>
          <p:cNvSpPr>
            <a:spLocks noGrp="1"/>
          </p:cNvSpPr>
          <p:nvPr>
            <p:ph idx="1"/>
          </p:nvPr>
        </p:nvSpPr>
        <p:spPr/>
        <p:txBody>
          <a:bodyPr/>
          <a:lstStyle/>
          <a:p>
            <a:pPr>
              <a:defRPr sz="1800"/>
            </a:pPr>
            <a:r>
              <a:t>Profile, die durch die Dämmung reichen, bilden linienförmige Wärmebrücken. Ihr Einfluss hängt vom Material, der Querschnittsfläche, dem Profilabstand und der Befestigungsart ab. Eine durchgehende Holzunterkonstruktion kann gegenüber einer metallischen Lösung grundsätzlich günstiger sein, ist aber nicht automatisch ohne Wärmebrücken. Auch Holzprofile und ihre Abstände müssen zur vorhandenen Dämmung passen. Ohne Angaben zum konkreten System lässt sich deshalb kein allgemeiner Prozentwert nennen. Bei der Planung sollten die Wärmeleitfähigkeit des Profils, seine Dimensionen, die Befestigungspunkte und die Verbindung zum Unterbau gemeinsam bewerte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bei Befestigung und Unterkonstruktion</a:t>
            </a:r>
          </a:p>
        </p:txBody>
      </p:sp>
      <p:sp>
        <p:nvSpPr>
          <p:cNvPr id="3" name="Content Placeholder 2"/>
          <p:cNvSpPr>
            <a:spLocks noGrp="1"/>
          </p:cNvSpPr>
          <p:nvPr>
            <p:ph idx="1"/>
          </p:nvPr>
        </p:nvSpPr>
        <p:spPr/>
        <p:txBody>
          <a:bodyPr/>
          <a:lstStyle/>
          <a:p>
            <a:pPr>
              <a:defRPr sz="1800"/>
            </a:pPr>
            <a:r>
              <a:t>t werden. Entscheidend ist, dass die energetisch wirksame Dämmebene nicht durch unnötig viele Durchdringungen unterbrochen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und Hinterlüftung</a:t>
            </a:r>
          </a:p>
        </p:txBody>
      </p:sp>
      <p:sp>
        <p:nvSpPr>
          <p:cNvPr id="3" name="Content Placeholder 2"/>
          <p:cNvSpPr>
            <a:spLocks noGrp="1"/>
          </p:cNvSpPr>
          <p:nvPr>
            <p:ph idx="1"/>
          </p:nvPr>
        </p:nvSpPr>
        <p:spPr/>
        <p:txBody>
          <a:bodyPr/>
          <a:lstStyle/>
          <a:p>
            <a:pPr>
              <a:defRPr sz="1800"/>
            </a:pPr>
            <a:r>
              <a:t>Eine hinterlüftete Holzfassade kann die Dämmung vor direkter Bewitterung schützen und Feuchte über den Luftweg abführen. Das erhält ihre Dämmwirkung, wenn der Luftweg durchgehend funktioniert und die eingetragene Feuchte tatsächlich abgeführt wird. Offene Fugen verändern dabei die Austauschbedingungen hinter den Leisten. Sie können den Luftwechsel begünstigen, stellen aber zugleich höhere Anforderungen an die Schutzebene der Dämmung. Schlagen Regen oder Diffusionsfeuchte ein, sind deshalb eine geeignete Wetterschutzschicht, die Dimensionierung des Luftspalts sowie zu- und Abluftöffnungen zu prüfen. Der Feuchteeintrag allein genügt nicht als Q</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und Hinterlüftung</a:t>
            </a:r>
          </a:p>
        </p:txBody>
      </p:sp>
      <p:sp>
        <p:nvSpPr>
          <p:cNvPr id="3" name="Content Placeholder 2"/>
          <p:cNvSpPr>
            <a:spLocks noGrp="1"/>
          </p:cNvSpPr>
          <p:nvPr>
            <p:ph idx="1"/>
          </p:nvPr>
        </p:nvSpPr>
        <p:spPr/>
        <p:txBody>
          <a:bodyPr/>
          <a:lstStyle/>
          <a:p>
            <a:pPr>
              <a:defRPr sz="1800"/>
            </a:pPr>
            <a:r>
              <a:t>ualitätsnachweis; wichtig ist ein trockener, funktionsfähiger Aufbau über die gesamte Fläche und an den Anschlüssen.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Materialeigenschaften richtig einordnen</a:t>
            </a:r>
          </a:p>
        </p:txBody>
      </p:sp>
      <p:sp>
        <p:nvSpPr>
          <p:cNvPr id="3" name="Content Placeholder 2"/>
          <p:cNvSpPr>
            <a:spLocks noGrp="1"/>
          </p:cNvSpPr>
          <p:nvPr>
            <p:ph idx="1"/>
          </p:nvPr>
        </p:nvSpPr>
        <p:spPr/>
        <p:txBody>
          <a:bodyPr/>
          <a:lstStyle/>
          <a:p>
            <a:pPr>
              <a:defRPr sz="1800"/>
            </a:pPr>
            <a:r>
              <a:t>Holz besitzt eine geringere Wärmeleitfähigkeit als viele andere Bekleidungsmaterialien und kann Wärme speichern. Für den jährlichen Heizwärmebedarf ist das Speicherverhalten der sichtbaren Schicht jedoch nachrangig, weil das wesentliche Speichervolumen in den inneren Wandschichten liegt. Bedeutung erhält es beim Verhalten gegenüber Sonneneinstrahlung und bei der sommerlichen Wärmebilanz. Hierfür sind neben dem Material auch Ausrichtung, Verschattung und Profilgeometrie relevant. Aus der Wahl einer Holzfassade allein folgt daher weder eine bestimmte Einsparung noch eine pauschale Überlegenheit gegenüber Putz, Metall, Faserzement oder Keramik.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Materialeigenschaften richtig einordnen</a:t>
            </a:r>
          </a:p>
        </p:txBody>
      </p:sp>
      <p:sp>
        <p:nvSpPr>
          <p:cNvPr id="3" name="Content Placeholder 2"/>
          <p:cNvSpPr>
            <a:spLocks noGrp="1"/>
          </p:cNvSpPr>
          <p:nvPr>
            <p:ph idx="1"/>
          </p:nvPr>
        </p:nvSpPr>
        <p:spPr/>
        <p:txBody>
          <a:bodyPr/>
          <a:lstStyle/>
          <a:p>
            <a:pPr>
              <a:defRPr sz="1800"/>
            </a:pPr>
            <a:r>
              <a:t>Vergleiche sollten stets denselben Wandaufbau, dieselben Anschlüsse und vergleichbare klimatische Bedingungen zugrunde legen.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Prüfpunkte für die eigene Planung</a:t>
            </a:r>
          </a:p>
        </p:txBody>
      </p:sp>
      <p:sp>
        <p:nvSpPr>
          <p:cNvPr id="3" name="Content Placeholder 2"/>
          <p:cNvSpPr>
            <a:spLocks noGrp="1"/>
          </p:cNvSpPr>
          <p:nvPr>
            <p:ph idx="1"/>
          </p:nvPr>
        </p:nvSpPr>
        <p:spPr/>
        <p:txBody>
          <a:bodyPr/>
          <a:lstStyle/>
          <a:p>
            <a:pPr>
              <a:defRPr sz="1800"/>
            </a:pPr>
            <a:r>
              <a:t>Vor einer energetischen Bewertung sollten vier Fragen beantwortet werden: Welche Dämmung ist vorgesehen und wo verläuft die Luftdichtheitsschicht? Welche Unterkonstruktion ist geplant, einschließlich Material, Profilquerschnitt und Abständen? Ist der Luftweg hinter der Bekleidung durchgehend mit passenden Zu- und Abluftöffnungen ausgebildet? Wie sind Sockel, Fenster, Ecken und obere Abschlüsse ausgeführt? Diese Punkte entscheiden über Wärmedurchgang, Wärmebrücken, Feuchteschutz und Anschlussqualität. Für die vertiefte Einordnung des Wandaufbaus bietet die Erläuterung zu Aufbau und Hinterlüftung zusätzliche Orientierung. Eine seriöse Energiebi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Prüfpunkte für die eigene Planung</a:t>
            </a:r>
          </a:p>
        </p:txBody>
      </p:sp>
      <p:sp>
        <p:nvSpPr>
          <p:cNvPr id="3" name="Content Placeholder 2"/>
          <p:cNvSpPr>
            <a:spLocks noGrp="1"/>
          </p:cNvSpPr>
          <p:nvPr>
            <p:ph idx="1"/>
          </p:nvPr>
        </p:nvSpPr>
        <p:spPr/>
        <p:txBody>
          <a:bodyPr/>
          <a:lstStyle/>
          <a:p>
            <a:pPr>
              <a:defRPr sz="1800"/>
            </a:pPr>
            <a:r>
              <a:t>lanz kann daher nur auf Grundlage des konkreten Gebäudes und der tatsächlich vorgesehenen Details erstellt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und Energiebilanz der Außenwand: Was die Bekleidung energetisch verändert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