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fassadeberlin.blogspot.com/2026/10/typische-schadensbilder-holzfassaden.html" TargetMode="External"/><Relationship Id="rId3" Type="http://schemas.openxmlformats.org/officeDocument/2006/relationships/hyperlink" Target="https://holzundhaus.github.io/holzfassadeberlin/dateien/minimax-5f85d5ed62689e4b25aaba5e/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Schadensbilder an Holzfassaden: Wann ist es mehr als Vergrauung? · Erklärende Präsentation</a:t>
            </a:r>
          </a:p>
        </p:txBody>
      </p:sp>
      <p:sp>
        <p:nvSpPr>
          <p:cNvPr id="3" name="Content Placeholder 2"/>
          <p:cNvSpPr>
            <a:spLocks noGrp="1"/>
          </p:cNvSpPr>
          <p:nvPr>
            <p:ph idx="1"/>
          </p:nvPr>
        </p:nvSpPr>
        <p:spPr/>
        <p:txBody>
          <a:bodyPr/>
          <a:lstStyle/>
          <a:p>
            <a:r>
              <a:t>Überblick: Bevor eine Holzfassade gepflegt, saniert oder neu beschichtet werden soll, lohnt sich eine genaue Einordnung des vorliegenden Befunds. Vergrauung und optische Veränderungen sind normal, können aber nicht automatisch als Schaden bezeichnet werden. Entscheidend ist, ob die Funktion der Bekleidung, ihrer Beschichtung oder ihrer Anschlüsse beeinträchtigt ist. Dieser Leitfaden hilft, Beobachtungen zu strukturieren, typische Warnsignale zu erkennen und eine fachliche Prüfung vorzubereiten. Er ersetzt keine Prüfung vor 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Vergrauung ist nicht gleich Schaden</a:t>
            </a:r>
          </a:p>
        </p:txBody>
      </p:sp>
      <p:sp>
        <p:nvSpPr>
          <p:cNvPr id="3" name="Content Placeholder 2"/>
          <p:cNvSpPr>
            <a:spLocks noGrp="1"/>
          </p:cNvSpPr>
          <p:nvPr>
            <p:ph idx="1"/>
          </p:nvPr>
        </p:nvSpPr>
        <p:spPr/>
        <p:txBody>
          <a:bodyPr/>
          <a:lstStyle/>
          <a:p>
            <a:pPr>
              <a:defRPr sz="1800"/>
            </a:pPr>
            <a:r>
              <a:t>Naturbelassenes Holz verändert durch UV-Licht und Feuchte seine Farbe. Diese Vergrauung beschreibt zunächst nur das Erscheinungsbild und sagt allein nichts über den Zustand der Konstruktion aus. Anders ist es, wenn dauerhaft Feuchte vorhanden ist, sich Beschichtungen ablösen, Leisten sich verformen oder Befestigungen sichtbar become lose. Die wichtigste Unterscheidung lautet daher: Geht es um die Optik, oder gibt es einen Hinweis auf einen baulichen oder technischen Mangel? Diese Frage sollte vor einer Pflegeentscheidung geklärt werden. Ein neuer Anstrich kann die Oberfläche optisch verbessern, aber keine Feuchtequelle, einen unterbrochenen 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Vergrauung ist nicht gleich Schaden</a:t>
            </a:r>
          </a:p>
        </p:txBody>
      </p:sp>
      <p:sp>
        <p:nvSpPr>
          <p:cNvPr id="3" name="Content Placeholder 2"/>
          <p:cNvSpPr>
            <a:spLocks noGrp="1"/>
          </p:cNvSpPr>
          <p:nvPr>
            <p:ph idx="1"/>
          </p:nvPr>
        </p:nvSpPr>
        <p:spPr/>
        <p:txBody>
          <a:bodyPr/>
          <a:lstStyle/>
          <a:p>
            <a:pPr>
              <a:defRPr sz="1800"/>
            </a:pPr>
            <a:r>
              <a:t>uftweg oder einen fehlerhaften Anschluss beheben.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Warnsignale, die eine Prüfung erfordern</a:t>
            </a:r>
          </a:p>
        </p:txBody>
      </p:sp>
      <p:sp>
        <p:nvSpPr>
          <p:cNvPr id="3" name="Content Placeholder 2"/>
          <p:cNvSpPr>
            <a:spLocks noGrp="1"/>
          </p:cNvSpPr>
          <p:nvPr>
            <p:ph idx="1"/>
          </p:nvPr>
        </p:nvSpPr>
        <p:spPr/>
        <p:txBody>
          <a:bodyPr/>
          <a:lstStyle/>
          <a:p>
            <a:pPr>
              <a:defRPr sz="1800"/>
            </a:pPr>
            <a:r>
              <a:t>Besonders aufmerksam sollten dauerhaft feuchte Bereiche sein, etwa an Sockeln, Fensteranschlüssen, Ecken oder dort, wo sich Wasser sammelt. Ebenfalls relevant sind großflächig abblätternde, rissige oder kreidende Beschichtungen sowie Filmrisse, durch die Wasser hinter die Beschichtung gelangen kann. Verdrehte, gewölbte oder deutlich in der Länge verformte Leisten können auf falsche Befestigung, fehlende Dehnungsabstände oder gestaute Feuchte hinweisen. Lockere, klappernde oder verschobene Teile sowie herausstehende oder korrodierte Befestigungsmittel sind weitere Warnzeichen. Auch Wasserabläufe an Fensterbänken, Leibungen, Traufen und oberen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Warnsignale, die eine Prüfung erfordern</a:t>
            </a:r>
          </a:p>
        </p:txBody>
      </p:sp>
      <p:sp>
        <p:nvSpPr>
          <p:cNvPr id="3" name="Content Placeholder 2"/>
          <p:cNvSpPr>
            <a:spLocks noGrp="1"/>
          </p:cNvSpPr>
          <p:nvPr>
            <p:ph idx="1"/>
          </p:nvPr>
        </p:nvSpPr>
        <p:spPr/>
        <p:txBody>
          <a:bodyPr/>
          <a:lstStyle/>
          <a:p>
            <a:pPr>
              <a:defRPr sz="1800"/>
            </a:pPr>
            <a:r>
              <a:t>Anschlüssen sollten nicht unbeachtet bleiben.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Ausführungsfehler zeigen sich oft erst später</a:t>
            </a:r>
          </a:p>
        </p:txBody>
      </p:sp>
      <p:sp>
        <p:nvSpPr>
          <p:cNvPr id="3" name="Content Placeholder 2"/>
          <p:cNvSpPr>
            <a:spLocks noGrp="1"/>
          </p:cNvSpPr>
          <p:nvPr>
            <p:ph idx="1"/>
          </p:nvPr>
        </p:nvSpPr>
        <p:spPr/>
        <p:txBody>
          <a:bodyPr/>
          <a:lstStyle/>
          <a:p>
            <a:pPr>
              <a:defRPr sz="1800"/>
            </a:pPr>
            <a:r>
              <a:t>Nicht jede technische Auffälligkeit entsteht durch altersbedingte Abnutzung. Ein unterbrochener Luftweg hinter der Bekleidung, eine fehlende Tropfkante, ein direkter Anschluss an benachbarte Bauteile ohne ausreichenden Abstand oder eine ungeeignete Beschichtung auf einem unbekannten Untergrund können erst nach längerer Bewitterung sichtbar werden. Deshalb ist die Reihenfolge besonders wichtig: zuerst den Bestand aufnehmen, dann technische Auffälligkeiten prüfen und erst anschließend Pflege oder Sanierung planen. Bei einer bloßen Pflegefrage geht es um Optik und Erhalt der Beschichtung. Eine Sanierungsanfrage ist sinnvoller, wenn der Aufbau be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Ausführungsfehler zeigen sich oft erst später</a:t>
            </a:r>
          </a:p>
        </p:txBody>
      </p:sp>
      <p:sp>
        <p:nvSpPr>
          <p:cNvPr id="3" name="Content Placeholder 2"/>
          <p:cNvSpPr>
            <a:spLocks noGrp="1"/>
          </p:cNvSpPr>
          <p:nvPr>
            <p:ph idx="1"/>
          </p:nvPr>
        </p:nvSpPr>
        <p:spPr/>
        <p:txBody>
          <a:bodyPr/>
          <a:lstStyle/>
          <a:p>
            <a:pPr>
              <a:defRPr sz="1800"/>
            </a:pPr>
            <a:r>
              <a:t>troffen sein könnte oder Anschlüsse neu geplant werden müssen.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sichere Bestandsaufnahme vorbereiten</a:t>
            </a:r>
          </a:p>
        </p:txBody>
      </p:sp>
      <p:sp>
        <p:nvSpPr>
          <p:cNvPr id="3" name="Content Placeholder 2"/>
          <p:cNvSpPr>
            <a:spLocks noGrp="1"/>
          </p:cNvSpPr>
          <p:nvPr>
            <p:ph idx="1"/>
          </p:nvPr>
        </p:nvSpPr>
        <p:spPr/>
        <p:txBody>
          <a:bodyPr/>
          <a:lstStyle/>
          <a:p>
            <a:pPr>
              <a:defRPr sz="1800"/>
            </a:pPr>
            <a:r>
              <a:t>Eine Begehung muss nicht selbst demontieren oder reparieren. Es genügt, die Fassade sicher zu betrachten und Beobachtungen mit Datum, Fassadenseite und möglichst Höhe am Gebäude festzuhalten. Für jede Stelle sollte notiert werden, ob es sich um Verfärbung, Risse, Ablösung, Feuchte, Verformung oder lose Teile handelt. Unterschiede zwischen verschiedenen Fassadenseiten können dabei wichtig sein. Sockel, Fenster, Ecken, Traufen und sichtbare Leitungsdurchführungen sollten gesondert betrachtet werden. Bereiche, die nicht sicher erreichbar sind, gehören ebenfalls auf die Liste. So werden Beobachtungen von einer noch ungeklärten Ursache getrennt un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sichere Bestandsaufnahme vorbereiten</a:t>
            </a:r>
          </a:p>
        </p:txBody>
      </p:sp>
      <p:sp>
        <p:nvSpPr>
          <p:cNvPr id="3" name="Content Placeholder 2"/>
          <p:cNvSpPr>
            <a:spLocks noGrp="1"/>
          </p:cNvSpPr>
          <p:nvPr>
            <p:ph idx="1"/>
          </p:nvPr>
        </p:nvSpPr>
        <p:spPr/>
        <p:txBody>
          <a:bodyPr/>
          <a:lstStyle/>
          <a:p>
            <a:pPr>
              <a:defRPr sz="1800"/>
            </a:pPr>
            <a:r>
              <a:t>d können später gezielt geprüft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für eine belastbare Anfrage</a:t>
            </a:r>
          </a:p>
        </p:txBody>
      </p:sp>
      <p:sp>
        <p:nvSpPr>
          <p:cNvPr id="3" name="Content Placeholder 2"/>
          <p:cNvSpPr>
            <a:spLocks noGrp="1"/>
          </p:cNvSpPr>
          <p:nvPr>
            <p:ph idx="1"/>
          </p:nvPr>
        </p:nvSpPr>
        <p:spPr/>
        <p:txBody>
          <a:bodyPr/>
          <a:lstStyle/>
          <a:p>
            <a:pPr>
              <a:defRPr sz="1800"/>
            </a:pPr>
            <a:r>
              <a:t>Für die weitere Einordnung sind möglichst Angaben zur Holzart, zur vorhandenen Beschichtung und zu bekannten Pflegejahren hilfreich. Wenn Informationen fehlen, sollten sie ausdrücklich als unbekannt bezeichnet werden, statt sie zu schätzen. Fotos oder eine einfache Skizze können den Ort und die Ausdehnung eines Befunds verständlicher machen. Auch die Erreichbarkeit ist relevant, besonders bei höher gelegenen Flächen oder Innenhofseiten. Diese Unterlagen ersetzen keine Fachprüfung, bereiten sie aber vor. Die Beobachtungen lassen sich anschließend in der Projektanfrage auf der Hauptseite schildern. Der weiterführende Ratgeber zu typischen Schad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für eine belastbare Anfrage</a:t>
            </a:r>
          </a:p>
        </p:txBody>
      </p:sp>
      <p:sp>
        <p:nvSpPr>
          <p:cNvPr id="3" name="Content Placeholder 2"/>
          <p:cNvSpPr>
            <a:spLocks noGrp="1"/>
          </p:cNvSpPr>
          <p:nvPr>
            <p:ph idx="1"/>
          </p:nvPr>
        </p:nvSpPr>
        <p:spPr/>
        <p:txBody>
          <a:bodyPr/>
          <a:lstStyle/>
          <a:p>
            <a:pPr>
              <a:defRPr sz="1800"/>
            </a:pPr>
            <a:r>
              <a:t>ensbildern bietet eine zusätzliche Orientierung für die Abgrenzung von Vergrauung, Pflegebedarf und technischem Prüfbedarf.</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Typische Schadensbilder an Holzfassaden: Wann ist es mehr als Vergrauung?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