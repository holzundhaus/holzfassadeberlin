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fassadeberlin.wordpress.com/2026/10/28/pflege-und-wartungsprotokoll-holzfassade/" TargetMode="External"/><Relationship Id="rId3" Type="http://schemas.openxmlformats.org/officeDocument/2006/relationships/hyperlink" Target="https://holzundhaus.github.io/holzfassadeberlin/dateien/minimax-5de5aeb659915fada16fc16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Wartungsprotokoll für eine Holzfassade: Was Eigentümer dokumentieren sollten · Erklärende Präsentation</a:t>
            </a:r>
          </a:p>
        </p:txBody>
      </p:sp>
      <p:sp>
        <p:nvSpPr>
          <p:cNvPr id="3" name="Content Placeholder 2"/>
          <p:cNvSpPr>
            <a:spLocks noGrp="1"/>
          </p:cNvSpPr>
          <p:nvPr>
            <p:ph idx="1"/>
          </p:nvPr>
        </p:nvSpPr>
        <p:spPr/>
        <p:txBody>
          <a:bodyPr/>
          <a:lstStyle/>
          <a:p>
            <a:r>
              <a:t>Überblick: Bei Holzfassaden entstehen Schäden selten durch einen einzelnen, sofort erkennbaren Vorgang. Häufiger wirken Feuchte, ungeeignete Entwässerung und schwer zugängliche Bauteile über längere Zeit zusammen. Ein Pflege- und Wartungsprotokoll für eine Holzfassade kann deshalb nicht nur den Anstrich erfassen. Es sollte auch dokumentieren, wo Regenwasser auftrifft, abläuft oder sich staut und welche Bereiche bei einer Kontrolle besonders sorgfältig beobachtet werden müssen. Der folgende Leitfaden verbindet die Zustandserfassung mit einer praktischen Regenwasser-Checkliste für Carport und Terrassenüberdachungen.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optische Veränderungen getrennt erfassen</a:t>
            </a:r>
          </a:p>
        </p:txBody>
      </p:sp>
      <p:sp>
        <p:nvSpPr>
          <p:cNvPr id="3" name="Content Placeholder 2"/>
          <p:cNvSpPr>
            <a:spLocks noGrp="1"/>
          </p:cNvSpPr>
          <p:nvPr>
            <p:ph idx="1"/>
          </p:nvPr>
        </p:nvSpPr>
        <p:spPr/>
        <p:txBody>
          <a:bodyPr/>
          <a:lstStyle/>
          <a:p>
            <a:pPr>
              <a:defRPr sz="1800"/>
            </a:pPr>
            <a:r>
              <a:t>Ein Pflege- und Wartungsprotokoll für eine Holzfassade hilft, natürliche Veränderungen von technischen Auffälligkeiten zu unterscheiden. Natürliche Vergrauung ist grundsätzlich kein Schaden. Weiches Holz, anhaltend feuchte Stellen, lose Teile, Risse oder beschädigte Beschichtungen sollten dagegen erfasst und fachlich geprüft werden. Notiert werden Datum, Fassadenseite, Höhe, genauer Ort, Art der Beobachtung, Zugang und Bearbeitungsstatus. Fotos aus einem möglichst gleichen Blickwinkel erleichtern spätere Vergleiche. Beschädigte Beschichtungen oder lose Bekleidungsteile sollten dokumentiert, aber nicht eigenständig entfernt oder demontiert 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und optische Veränderungen getrennt erfassen</a:t>
            </a:r>
          </a:p>
        </p:txBody>
      </p:sp>
      <p:sp>
        <p:nvSpPr>
          <p:cNvPr id="3" name="Content Placeholder 2"/>
          <p:cNvSpPr>
            <a:spLocks noGrp="1"/>
          </p:cNvSpPr>
          <p:nvPr>
            <p:ph idx="1"/>
          </p:nvPr>
        </p:nvSpPr>
        <p:spPr/>
        <p:txBody>
          <a:bodyPr/>
          <a:lstStyle/>
          <a:p>
            <a:pPr>
              <a:defRPr sz="1800"/>
            </a:pPr>
            <a:r>
              <a:t>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vor Ort systematisch prüfen</a:t>
            </a:r>
          </a:p>
        </p:txBody>
      </p:sp>
      <p:sp>
        <p:nvSpPr>
          <p:cNvPr id="3" name="Content Placeholder 2"/>
          <p:cNvSpPr>
            <a:spLocks noGrp="1"/>
          </p:cNvSpPr>
          <p:nvPr>
            <p:ph idx="1"/>
          </p:nvPr>
        </p:nvSpPr>
        <p:spPr/>
        <p:txBody>
          <a:bodyPr/>
          <a:lstStyle/>
          <a:p>
            <a:pPr>
              <a:defRPr sz="1800"/>
            </a:pPr>
            <a:r>
              <a:t>Bei jeder Kontrolle ist zu klären, wohin Regenwasser von Carport und Terrassenüberdachung richtig geleitet wird. Zu prüfen sind vor allem die Fallhöhe, der Austritt aus Dachrinne oder Fallrohr, der Verlauf der Entwässerung und die Stellen, an denen Wasser an der Fassade vorbeikommen könnte. Auch die Bodenoberfläche rund um Sockel, Fenster, Ecken und Übergänge ist wichtig. Eine dauerhaft feucht wirkende Fläche sollte nicht lediglich als „nass“ bezeichnet werden. Ort, Dauer, Wetter situation und Zugang gehören ins Protokoll. Unbekannte Produkte oder nicht erreichbare Abschnitte werden ausdrücklich als offene Fragen erfasst, statt sie zu schätze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vor Ort systematisch prüfen</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Entwässerungswege unterscheiden</a:t>
            </a:r>
          </a:p>
        </p:txBody>
      </p:sp>
      <p:sp>
        <p:nvSpPr>
          <p:cNvPr id="3" name="Content Placeholder 2"/>
          <p:cNvSpPr>
            <a:spLocks noGrp="1"/>
          </p:cNvSpPr>
          <p:nvPr>
            <p:ph idx="1"/>
          </p:nvPr>
        </p:nvSpPr>
        <p:spPr/>
        <p:txBody>
          <a:bodyPr/>
          <a:lstStyle/>
          <a:p>
            <a:pPr>
              <a:defRPr sz="1800"/>
            </a:pPr>
            <a:r>
              <a:t>Für die weitere Planung lassen sich grundsätzlich drei Wege unterscheiden: direkte Ableitung zum geeigneten Entwässerungssystem, Führung über vorhandene Flächen mit Gefälle oder eine gezielte Umlenkung um besonders beanspruchte Fassadenbereiche. Welcher Weg sinnvoll ist, hängt von der vor Ort sichtbaren Situation ab. Entscheidend ist, dass Wasser weder dauerhaft gegen Holz, Sockel oder Anschlüsse geleitet noch an einer ungeeigneten Stelle gesammelt wird. Ausführliche Orientierung bietet der Beitrag Regenwasser von Carport und Terrassenüberdachung richtig führen: drei Wege und was in die Anfrage gehört. Dort werden die Planungsfragen für eine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Entwässerungswege unterscheiden</a:t>
            </a:r>
          </a:p>
        </p:txBody>
      </p:sp>
      <p:sp>
        <p:nvSpPr>
          <p:cNvPr id="3" name="Content Placeholder 2"/>
          <p:cNvSpPr>
            <a:spLocks noGrp="1"/>
          </p:cNvSpPr>
          <p:nvPr>
            <p:ph idx="1"/>
          </p:nvPr>
        </p:nvSpPr>
        <p:spPr/>
        <p:txBody>
          <a:bodyPr/>
          <a:lstStyle/>
          <a:p>
            <a:pPr>
              <a:defRPr sz="1800"/>
            </a:pPr>
            <a:r>
              <a:t>fachliche Einschätzung gebündelt.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und Beschichtung aufeinander abstimmen</a:t>
            </a:r>
          </a:p>
        </p:txBody>
      </p:sp>
      <p:sp>
        <p:nvSpPr>
          <p:cNvPr id="3" name="Content Placeholder 2"/>
          <p:cNvSpPr>
            <a:spLocks noGrp="1"/>
          </p:cNvSpPr>
          <p:nvPr>
            <p:ph idx="1"/>
          </p:nvPr>
        </p:nvSpPr>
        <p:spPr/>
        <p:txBody>
          <a:bodyPr/>
          <a:lstStyle/>
          <a:p>
            <a:pPr>
              <a:defRPr sz="1800"/>
            </a:pPr>
            <a:r>
              <a:t>Reinigung, technische Prüfung und Beschichtung sollten als getrennte Schritte behandelt werden. Auffälligkeiten sind zunächst zu bewerten, weil ein neuer Anstrich die Ursache einer dauerhaft feuchten Stelle nicht beseitigt. Anschließend wird schonend gereinigt und die vollständige Trocknung abgewartet. Erst danach lässt sich ein zum vorhandenen System passendes Beschichtungsprodukt nach Herstellerangaben auswählen. Im Protokoll gehören dazu das erkannte oder ausdrücklich unbekannte Produkt, die Untergrundvorbereitung, Verarbeitungsbedingungen, optisches Ziel und erforderliche spätere Pflege. Wetter, Überdachung, Holzart und bisherige Behandlu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und Beschichtung aufeinander abstimmen</a:t>
            </a:r>
          </a:p>
        </p:txBody>
      </p:sp>
      <p:sp>
        <p:nvSpPr>
          <p:cNvPr id="3" name="Content Placeholder 2"/>
          <p:cNvSpPr>
            <a:spLocks noGrp="1"/>
          </p:cNvSpPr>
          <p:nvPr>
            <p:ph idx="1"/>
          </p:nvPr>
        </p:nvSpPr>
        <p:spPr/>
        <p:txBody>
          <a:bodyPr/>
          <a:lstStyle/>
          <a:p>
            <a:pPr>
              <a:defRPr sz="1800"/>
            </a:pPr>
            <a:r>
              <a:t>ng beeinflussen die intervals of care, weshalb ein starrer Termin allein nicht ausreicht.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Jährliche Auswertung und sichere Zugang planen</a:t>
            </a:r>
          </a:p>
        </p:txBody>
      </p:sp>
      <p:sp>
        <p:nvSpPr>
          <p:cNvPr id="3" name="Content Placeholder 2"/>
          <p:cNvSpPr>
            <a:spLocks noGrp="1"/>
          </p:cNvSpPr>
          <p:nvPr>
            <p:ph idx="1"/>
          </p:nvPr>
        </p:nvSpPr>
        <p:spPr/>
        <p:txBody>
          <a:bodyPr/>
          <a:lstStyle/>
          <a:p>
            <a:pPr>
              <a:defRPr sz="1800"/>
            </a:pPr>
            <a:r>
              <a:t>Nach den Kontrollen im Frühjahr und Spätsommer bietet sich eine jährliche Auswertung an. Sie kann Flächen, aktuelle Zustände, bekannte Produkte, offene Fragen und geplante Maßnahmen je Fassadenseite zusammenführen. Wichtig ist außerdem die Zugangslage: Nicht erreichbare Bereiche werden gesondert aufgeführt, weil ihre Prüfung später eine Leiter, einen Hubsteiger oder ein Gerüst erfordern kann. So entsteht eine belastbare Unterlage für Handwerks- oder Planungsbetriebe. Angaben zu Aufwand, Material oder Kosten sollten dabei nur auf belastbaren Grundlagen beruhen. Schätzungen ohne ausreichende Grundlage gehören nicht ins Protokoll, sondern in die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Jährliche Auswertung und sichere Zugang planen</a:t>
            </a:r>
          </a:p>
        </p:txBody>
      </p:sp>
      <p:sp>
        <p:nvSpPr>
          <p:cNvPr id="3" name="Content Placeholder 2"/>
          <p:cNvSpPr>
            <a:spLocks noGrp="1"/>
          </p:cNvSpPr>
          <p:nvPr>
            <p:ph idx="1"/>
          </p:nvPr>
        </p:nvSpPr>
        <p:spPr/>
        <p:txBody>
          <a:bodyPr/>
          <a:lstStyle/>
          <a:p>
            <a:pPr>
              <a:defRPr sz="1800"/>
            </a:pPr>
            <a:r>
              <a:t> Liste der offenen Fragen.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Pflege- und Wartungsprotokoll für eine Holzfassade: Was Eigentümer dokumentieren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