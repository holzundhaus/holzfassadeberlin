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fassadeberlin/-/blob/80583bfad176b9f43b3b605d10822132fd50ead8/_posts/2026-10-26-anbauteile-holzfassade-befestigen-hinterlueftung.md" TargetMode="External"/><Relationship Id="rId3" Type="http://schemas.openxmlformats.org/officeDocument/2006/relationships/hyperlink" Target="https://holzundhaus.github.io/holzfassadeberlin/dateien/minimax-3dd19ceb7564c96b51f4800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 Markisen und Leuchten an der Holzfassade befestigen – ohne die Hinterlüftung zu schwächen · Erklärende Präsentation</a:t>
            </a:r>
          </a:p>
        </p:txBody>
      </p:sp>
      <p:sp>
        <p:nvSpPr>
          <p:cNvPr id="3" name="Content Placeholder 2"/>
          <p:cNvSpPr>
            <a:spLocks noGrp="1"/>
          </p:cNvSpPr>
          <p:nvPr>
            <p:ph idx="1"/>
          </p:nvPr>
        </p:nvSpPr>
        <p:spPr/>
        <p:txBody>
          <a:bodyPr/>
          <a:lstStyle/>
          <a:p>
            <a:r>
              <a:t>Überblick: Wer Geländer, Markisen oder Außenleuchten an einer hinterlüfteten Holzfassade ergänzen möchte, muss zwei Anforderungen gleichzeitig lösen: Das Anbauteil muss zuverlässig befestigt sein, und der hinter der Bekleidung liegende Luftweg darf nicht durchbrochen werden. Besonders wichtig ist außerdem, dass Wasser an jeder Durchdringung kontrolliert ablaufen kann. Der folgende Leitfaden strukturiert die Planung, bevor Dübel, Platten oder Gehäuse montiert werden. Ergänzende Hinweise zu [Aufbau und Hinterlüftung der Holzfassade] und zum [Sockel- und Spritzwasserbereich] helfen dabei, das Gesamtsystem besser einzuschätzen.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als Durchdringung planen</a:t>
            </a:r>
          </a:p>
        </p:txBody>
      </p:sp>
      <p:sp>
        <p:nvSpPr>
          <p:cNvPr id="3" name="Content Placeholder 2"/>
          <p:cNvSpPr>
            <a:spLocks noGrp="1"/>
          </p:cNvSpPr>
          <p:nvPr>
            <p:ph idx="1"/>
          </p:nvPr>
        </p:nvSpPr>
        <p:spPr/>
        <p:txBody>
          <a:bodyPr/>
          <a:lstStyle/>
          <a:p>
            <a:pPr>
              <a:defRPr sz="1800"/>
            </a:pPr>
            <a:r>
              <a:t>Eine Holzbekleidung ist kein tragender Baukörper wie ein massiver Mauerwerkskörper. Unterkonstruktion, Holz und dahinterliegende Wand erfüllen unterschiedliche Aufgaben. Ein Geländer, eine Markise oder eine Leuchte darf deshalb nicht allein mit einem Standarddübel im Holz befestigt werden. Zunächst muss geklärt werden, wo sich die tragende Wand befindet und welche Lasten auf sie wirken. Das Anbauteil sollte frühestens an dieser tragenden Ebene enden, nicht lediglich an der Unterkonstruktion oder an der Holzschicht.</a:t>
            </a:r>
          </a:p>
          <a:p>
            <a:pPr>
              <a:defRPr sz="1800"/>
            </a:pPr>
          </a:p>
          <a:p>
            <a:pPr>
              <a:defRPr sz="1800"/>
            </a:pPr>
            <a:r>
              <a:t>Hinterlüftung bleibt nur wirksam, wenn um die Durchdringung ein ausreichender Luftweg erhalten bleibt. Große Platten oder Rahmen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als Durchdringung planen</a:t>
            </a:r>
          </a:p>
        </p:txBody>
      </p:sp>
      <p:sp>
        <p:nvSpPr>
          <p:cNvPr id="3" name="Content Placeholder 2"/>
          <p:cNvSpPr>
            <a:spLocks noGrp="1"/>
          </p:cNvSpPr>
          <p:nvPr>
            <p:ph idx="1"/>
          </p:nvPr>
        </p:nvSpPr>
        <p:spPr/>
        <p:txBody>
          <a:bodyPr/>
          <a:lstStyle/>
          <a:p>
            <a:pPr>
              <a:defRPr sz="1800"/>
            </a:pPr>
            <a:r>
              <a:t> können diesen Weg versperren. Eine räumliche Trennung zwischen Anbauteil und Bekleidung ist deshalb vorteilhaft: Wasser kann vorbeifließen, Feuchte wird nicht direkt auf das Holz geleitet und bewegliche Holzteile stehen nicht dauerhaft in feuchten 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 Last absetzen und Feuchte fernhalten</a:t>
            </a:r>
          </a:p>
        </p:txBody>
      </p:sp>
      <p:sp>
        <p:nvSpPr>
          <p:cNvPr id="3" name="Content Placeholder 2"/>
          <p:cNvSpPr>
            <a:spLocks noGrp="1"/>
          </p:cNvSpPr>
          <p:nvPr>
            <p:ph idx="1"/>
          </p:nvPr>
        </p:nvSpPr>
        <p:spPr/>
        <p:txBody>
          <a:bodyPr/>
          <a:lstStyle/>
          <a:p>
            <a:pPr>
              <a:defRPr sz="1800"/>
            </a:pPr>
            <a:r>
              <a:t>Geländer benötigen eine Verbindung zur tragenden Konstruktion. Dafür empfiehlt sich eine separate, durchgehende Konsole, die am Mauerwerk befestigt wird und einen Abstand zur Holzbekleidung schafft. So werden die Kräfte nicht in das Holz eingeleitet, und der Luftweg hinter der Fassade bleibt offen.</a:t>
            </a:r>
          </a:p>
          <a:p>
            <a:pPr>
              <a:defRPr sz="1800"/>
            </a:pPr>
          </a:p>
          <a:p>
            <a:pPr>
              <a:defRPr sz="1800"/>
            </a:pPr>
            <a:r>
              <a:t>Für eine bodennahe Befestigung ist eine Manschette mit Tropfkante sinnvoll. Sie leitet Regenwasser vom Holz weg. Zwischen Pfosten und Holzbekleidung sollte ein Abstand von mindestens 20 mm bleiben, damit kein dauerhafter Kontakt mit Feuchtigkeit entsteht. Bei der Auslegung ist nicht nur das Eigengewicht zu berücksichtigen, sondern auch die seitlic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 Last absetzen und Feuchte fernhalten</a:t>
            </a:r>
          </a:p>
        </p:txBody>
      </p:sp>
      <p:sp>
        <p:nvSpPr>
          <p:cNvPr id="3" name="Content Placeholder 2"/>
          <p:cNvSpPr>
            <a:spLocks noGrp="1"/>
          </p:cNvSpPr>
          <p:nvPr>
            <p:ph idx="1"/>
          </p:nvPr>
        </p:nvSpPr>
        <p:spPr/>
        <p:txBody>
          <a:bodyPr/>
          <a:lstStyle/>
          <a:p>
            <a:pPr>
              <a:defRPr sz="1800"/>
            </a:pPr>
            <a:r>
              <a:t>he Beanspruchung eines Geländers. Die konkrete Verbindung muss daher auf das jeweilige Bauteil und die vorhandene Wand abgestimmt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Markisen: Punktlast und Hebelwirkung berücksichtigen</a:t>
            </a:r>
          </a:p>
        </p:txBody>
      </p:sp>
      <p:sp>
        <p:nvSpPr>
          <p:cNvPr id="3" name="Content Placeholder 2"/>
          <p:cNvSpPr>
            <a:spLocks noGrp="1"/>
          </p:cNvSpPr>
          <p:nvPr>
            <p:ph idx="1"/>
          </p:nvPr>
        </p:nvSpPr>
        <p:spPr/>
        <p:txBody>
          <a:bodyPr/>
          <a:lstStyle/>
          <a:p>
            <a:pPr>
              <a:defRPr sz="1800"/>
            </a:pPr>
            <a:r>
              <a:t>Eine Markise belastet ihre Befestigung punktuell und überträgt durch ihre Auskragung zusätzliche Momente auf das Mauerwerk. Ihre Wandhalterung oder ein Lastverteilungsrahmen muss diese Kräfte in die tragende Wand weiterleiten. Die Holzschicht darf dabei weder verformt noch unzulässig belastet werden.</a:t>
            </a:r>
          </a:p>
          <a:p>
            <a:pPr>
              <a:defRPr sz="1800"/>
            </a:pPr>
          </a:p>
          <a:p>
            <a:pPr>
              <a:defRPr sz="1800"/>
            </a:pPr>
            <a:r>
              <a:t>Der gewählte Aufbau sollte gleichzeitig einen umlaufenden Luftspalt im Randbereich erhalten. Entscheidend ist außerdem, dass Wasser nicht zwischen Halterung und Holz stehen bleibt. Tropfkanten, Ablaufwege und flexible Anschlüsse sind deshalb bereits in der Planung vorzusehen. Die geeignete Verbindung hängt von Befestigungsart, Abstand zur Wand 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Markisen: Punktlast und Hebelwirkung berücksichtigen</a:t>
            </a:r>
          </a:p>
        </p:txBody>
      </p:sp>
      <p:sp>
        <p:nvSpPr>
          <p:cNvPr id="3" name="Content Placeholder 2"/>
          <p:cNvSpPr>
            <a:spLocks noGrp="1"/>
          </p:cNvSpPr>
          <p:nvPr>
            <p:ph idx="1"/>
          </p:nvPr>
        </p:nvSpPr>
        <p:spPr/>
        <p:txBody>
          <a:bodyPr/>
          <a:lstStyle/>
          <a:p>
            <a:pPr>
              <a:defRPr sz="1800"/>
            </a:pPr>
            <a:r>
              <a:t>nd zu erwartenden Kräften ab; eine pauschale Dübelempfehlung wäre nicht ausreichend.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Außenleuchten: Kabeldurchgang und Gehäuse dicht anschließen</a:t>
            </a:r>
          </a:p>
        </p:txBody>
      </p:sp>
      <p:sp>
        <p:nvSpPr>
          <p:cNvPr id="3" name="Content Placeholder 2"/>
          <p:cNvSpPr>
            <a:spLocks noGrp="1"/>
          </p:cNvSpPr>
          <p:nvPr>
            <p:ph idx="1"/>
          </p:nvPr>
        </p:nvSpPr>
        <p:spPr/>
        <p:txBody>
          <a:bodyPr/>
          <a:lstStyle/>
          <a:p>
            <a:pPr>
              <a:defRPr sz="1800"/>
            </a:pPr>
            <a:r>
              <a:t>Leuchten wirken leicht, schaffen aber eine punktgenaue Durchdringung der Bekleidung. Bei Regen wird die Anschlussstelle besonders kritisch. Eine rückseitige Abdichtung, eine Manschette oder ein aufgesetzter Rahmen mit Tropfkante kann das dahinterliegende Holz schützen.</a:t>
            </a:r>
          </a:p>
          <a:p>
            <a:pPr>
              <a:defRPr sz="1800"/>
            </a:pPr>
          </a:p>
          <a:p>
            <a:pPr>
              <a:defRPr sz="1800"/>
            </a:pPr>
            <a:r>
              <a:t>Auch der Kabelweg braucht einen durchdachten Abschluss. Das Kabel sollte nicht unmittelbar am Holz enden, sondern in eine geschlossene Dose auf der Innenseite münden. Damit wird verhindert, dass Wasser oder Kondensat entlang des Kabels in die Konstruktion läuft. Zugleich muss der verbleibende Luftweg um das Leuchtengehäuse erhalten bleiben.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Montage systematisch prüfen</a:t>
            </a:r>
          </a:p>
        </p:txBody>
      </p:sp>
      <p:sp>
        <p:nvSpPr>
          <p:cNvPr id="3" name="Content Placeholder 2"/>
          <p:cNvSpPr>
            <a:spLocks noGrp="1"/>
          </p:cNvSpPr>
          <p:nvPr>
            <p:ph idx="1"/>
          </p:nvPr>
        </p:nvSpPr>
        <p:spPr/>
        <p:txBody>
          <a:bodyPr/>
          <a:lstStyle/>
          <a:p>
            <a:pPr>
              <a:defRPr sz="1800"/>
            </a:pPr>
            <a:r>
              <a:t>Vor der Ausführung sollten mindestens vier Fragen geklärt sein: Wo liegt die tragende Wand hinter Bekleidung und Unterkonstruktion? Endet die Befestigung tatsächlich in dieser Ebene? Bleibt der Luftweg an der Durchdringung offen? Ist der Wasserablauf so gestaltet, dass Regen weder hinter der Halterung stehen bleibt noch am Holz herunterläuft?</a:t>
            </a:r>
          </a:p>
          <a:p>
            <a:pPr>
              <a:defRPr sz="1800"/>
            </a:pPr>
          </a:p>
          <a:p>
            <a:pPr>
              <a:defRPr sz="1800"/>
            </a:pPr>
            <a:r>
              <a:t>Zu prüfen sind außerdem Manschetten, Tropfkanten und flexible Abdichtungen. Materialien und Abstände müssen zusammenpassen; eine einzelne Dichtung ersetzt keinen durchdachten Aufbau. Wenn Standort, Befestigungsart oder Untergrund unklar sind, sollte die Lösung vor der Montage anhand des konkreten Bauvor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Montage systematisch prüfen</a:t>
            </a:r>
          </a:p>
        </p:txBody>
      </p:sp>
      <p:sp>
        <p:nvSpPr>
          <p:cNvPr id="3" name="Content Placeholder 2"/>
          <p:cNvSpPr>
            <a:spLocks noGrp="1"/>
          </p:cNvSpPr>
          <p:nvPr>
            <p:ph idx="1"/>
          </p:nvPr>
        </p:nvSpPr>
        <p:spPr/>
        <p:txBody>
          <a:bodyPr/>
          <a:lstStyle/>
          <a:p>
            <a:pPr>
              <a:defRPr sz="1800"/>
            </a:pPr>
            <a:r>
              <a:t>habens abgestimmt werden. So lassen sich sichtbare Schäden vermeiden und verdeckte Feuchteschäden in der Hinterlüftungsebene verringern.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Geländer, Markisen und Leuchten an der Holzfassade befestigen – ohne die Hinterlüftung zu schwächen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